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9" r:id="rId7"/>
    <p:sldId id="284" r:id="rId8"/>
    <p:sldId id="262" r:id="rId9"/>
    <p:sldId id="263" r:id="rId10"/>
    <p:sldId id="264" r:id="rId11"/>
    <p:sldId id="265" r:id="rId12"/>
    <p:sldId id="266" r:id="rId13"/>
    <p:sldId id="282" r:id="rId14"/>
    <p:sldId id="283" r:id="rId15"/>
    <p:sldId id="281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33" autoAdjust="0"/>
  </p:normalViewPr>
  <p:slideViewPr>
    <p:cSldViewPr snapToGrid="0" snapToObjects="1">
      <p:cViewPr varScale="1">
        <p:scale>
          <a:sx n="84" d="100"/>
          <a:sy n="84" d="100"/>
        </p:scale>
        <p:origin x="23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F61A4-E44E-493E-BF8E-11B22F5CE829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3AFBE-4A77-45F8-8F83-FF54F05D8E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163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Les presento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DriverControl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mi proyecto de fin de ciclo.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Se trata de una aplicación móvil para la gestión de pequeñas flotas de transporte. A lo largo de esta presentación explicaré el problema que resuelve, las tecnologías utilizadas, la arquitectura, los resultados y, al final, haremos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demo funcional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-00:15-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559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Muchas pequeñas empresas de transporte siguen gestionando su flota con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métodos manuales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Esto provoca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errores, pérdida de información y retrasos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la toma de decisiones.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DriverControl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es una app que facilita la gestión mediante 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perfiles diferenciados, 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datos centralizados, ubicaciones actualizadas, informes de actividad y contacto directo entre usuarios.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-01:00-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760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el desarrollo he utilizado: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Android Studio con Java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como entorno y lenguaje principal, que es lo que hemos trabajado durante el ciclo formativo.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Firestore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como base de datos en la nube, que proporciona sincronización en tiempo real sin necesidad de montar un servidor propio.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OpenStreetMap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través de la librería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OSMDroid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para los mapas, una alternativa gratuita a Google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maps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JavaMail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envío de correos electrónicos.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 esto me ha permitido desarrollar la aplicación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sin costes elevados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con herramientas conocidas.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Ordenador y dispositivo Android.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-01:30-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062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requisitos funcionales más importantes:</a:t>
            </a:r>
          </a:p>
          <a:p>
            <a:pPr algn="l"/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Login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por 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el sistema identifica si el usuario es administrador (master) o conductor y muestra la interfaz correspondiente.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CRUD completo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todas las entidades.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Mapa con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la flota y los avisos de avería.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Registro de tiempos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trabajo, con cálculo automático.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Generación de informes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tanto manuales como automáticos.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contacto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entre usuarios mediante llamada, SMS o WhatsApp.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Intenta cubrir las necesidades básicas de una pequeña flota.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-02:15-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659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requisitos no funcionales: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 es compatible con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Android 8 o superior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 que cubre la gran mayoría de dispositivos actuales.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Requiere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conexión a Internet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la actualización de datos.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ubicación se actualiza cada 5 minutos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equilibrar precisión y consumo de batería.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interfaz es sencilla e intuitiva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para poder utilizarse durante otras labores.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Todos los datos se almacenan en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 el desarrollo está hecho 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Java con Android Studio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-02:45-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9512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seguridad es un aspecto fundamental, especialmente porque gestionamos datos de personas.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implementado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acceso restringido por rol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de modo que un conductor no puede acceder a funciones de administrador y viceversa.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credenciales SMTP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envío de correos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 están escritas en el código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sino que se almacenan en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dentro del documento del usuario master.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Además, el conductor tiene control sobre su privacidad: puede decidir si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comparte su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con otros compañeros o no.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utilizado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proyecto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independiente por cliente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los datos de una empresa no pueden ser accedidos desde la aplicación de otra empresa, cumpliendo así con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RGPD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Instalación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-03:30-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306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viabilidad del proyecto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desarrollo se planificó 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12 semanas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distribuidas en análisis, diseño, desarrollo, pruebas y documentación. En total, unas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240 horas de trabajo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un entorno profesional, el coste principal sería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desarrollador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entre 2.800 y 3.300 euros para un perfil junior. Las herramientas como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tienen planes gratuitos para empezar, y si se amplía el servicio costaría unos 30-50 euros al trimestre.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hardware como portátil y dispositivo de prueba son amortizables en varios proyectos.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Desde el punto de vista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técnico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las tecnologías están consolidadas.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económico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los costes son bajos.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operativo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 interfaz es sencilla. Y desde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legal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se ha tenido en cuenta el RGPD y los riesgos laborales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conjunto, el proyecto se considera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viable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pequeñas flotas.</a:t>
            </a:r>
          </a:p>
          <a:p>
            <a:r>
              <a:rPr lang="es-ES" b="1" dirty="0"/>
              <a:t>-05:00-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338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 permite gestionar cinco entidades principales: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Usuarios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sus roles, datos de contacto y credenciales.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Vehículos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matrícula, tipo o capacidad.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Viajes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origen, destino, fechas o conductor asignado.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Avisos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incidencias.</a:t>
            </a:r>
            <a:b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registros de conducción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con fechas, horas y tipo de actividad.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Todas estas entidades se pueden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crear, consultar, modificar y eliminar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tanto por el administrador como por el master, cada uno dentro de sus permisos.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Esto lo veremos en la demo, pero lo interesante a nivel técnico es que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todas estas gestiones usan las mismas pantallas reutilizables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-05:30-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141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ubicación es una de las funcionalidades principales de la aplicación.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administrador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puede visualizar en un mapa la ubicación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toda la flota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También aparecen los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avisos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con un marcador diferenciado.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conductor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por su parte, puede activar o desactivar un interruptor para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compartir su ubicación con otros compañeros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Si lo activa, otros conductores que se encuentren a menos de unos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25 kilómetros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aparecerán en su lista de 'compañeros cercanos'. Desde ahí podrán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ver su ubicación en Google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Maps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contactar directamente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ubicación se obtiene mediante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servicio en segundo plano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se ejecuta aunque la app no esté abierta, con actualizaciones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cada 5 minutos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controlar el consumo batería.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-06:30-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71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registro de jornada está basado 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normativa europea de tiempos de conducción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conductor puede registrar el inicio y fin de su actividad, eligiendo entre cuatro tipos: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conducción, descanso, disponibilidad y otros trabajos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aplicación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calcula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los tiempos acumulados y muestra cuando se alcanzan los límites permitidos.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Una funcionalidad muy práctica es que permite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dejar un registro sin completar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retomarlo más tarde. Por ejemplo, si el conductor empieza su jornada pero no ha terminado, la app detecta que hay un registro pendiente y lo carga automáticamente.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administrador también puede acceder a estos registros y editarlos si es necesario.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-07:15-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047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Los informes son otra funcionalidad importante para el administrador.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Por un lado, tiene la opción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generar informes instantáneos,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selecciona un conductor concreto o todos los que tenga asignados, y la aplicación genera un informe con los datos de actividad y avisos. Luego puede enviarlo por email, bien como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texto en el cuerpo del correo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o como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archivo PDF adjunto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Por otro lado, existe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informe automático semanal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El administrador elige un día de la semana, y ese día a medianoche el sistema genera y envía el informe. Esto se implementa mediante un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Worker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de Android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ejecuta la tarea en segundo plano.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Además, la base de datos incorpora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limpieza automática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cada vez que se genera un informe automático se eliminan registros, avisos y viajes con más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cuatro meses de antigüedad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evitando la acumulación de datos obsoletos.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-08:00-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58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Ahora la parte técnica, que es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punto diferencial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del proyecto.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seguido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arquitectura por tres capas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de presentación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las actividades y vistas, que solo gestionan la interfaz.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lógica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donde ocurre la reutilización.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Capa de persistencia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: centralizada en una clase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Singleton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clave está 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reutilización de actividades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En lugar de crear una pantalla diferente para cada entidad, he creado una única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ListActivity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una única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ItemDetailActivity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que sirven para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todos los CRUD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Se ha conseguido mediante un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enumerado llamado 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TipoLista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Cada valor define el título de la pantalla, las etiquetas de los campos, los nombres de las propiedades y la clase asociada.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utilizado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reflexión de Java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través de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ReflectionUtils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que permite invocar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getters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y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setters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en tiempo de ejecución sin saber qué clase se está manejando.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acceso a los datos está centralizado en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FirestoreDB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ventaja es que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añadir una nueva entidad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solo requiere crear la clase modelo, añadir el enumerado y definir la colección.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 hay que tocar ninguna actividad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 Es un diseño escalable y fácil de mantener.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-09:30-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50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Durante el desarrollo he realizado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constantes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tanto a nivel de base de datos como de funcionalidad.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probado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CRUD completo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sistema de contacto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(llamada, SMS y WhatsApp), 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funcionales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cada pantalla,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validación de datos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formularios,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pruebas reales de uso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simulando la jornada de un conductor, el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sistema de ubicación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generación de informes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y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traducción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inglés, portugués y rumano.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Las pruebas han sido superadas con éxito.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control de cambios lo he gestionado de forma local, guardando copias con fecha, y he creado un repositorio en GitHub para establecer esta versión 1.0 como base de futuras mejoras.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-10:15-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777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tenido que enfrentarme a varios problemas durante el desarrollo.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arquitectura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el reto fue conseguir que una única actividad sirviera para gestionar todas las entidades. La solución fue el enumerado 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TipoLista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En la gestión de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ubicaciones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tuve que aprender a implementar un servicio en segundo plano que siguiera obteniendo la posición aunque la app no estuviera abierta, y también equilibrar la frecuencia de actualización para no gastar demasiada batería.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Y los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informes automáticos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requirieron aprender a usar los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Workers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de Android para programar tareas periódicas, además de configurar correctamente el envío de correos con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JavaMail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 y contraseñas de aplicación.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Todos estos problemas se resolvieron con éxito, y el aprendizaje ha sido muy valioso.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-11:00-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019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Como conclusiones finales: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proyecto es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funcional 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pequeñas flotas de transporte.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La arquitectura de reutilización es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base para un producto profesional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podido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aplicar diversos conocimientos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del ciclo formativo: desarrollo Android, bases de datos, gestión de usuarios, ubicaciones, informes... he intentado hacer un proyecto completo.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He conseguido el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 cumplimiento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los requisitos, a falta me mejorar y ampliar las traducciones.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El proyecto me ha permitido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aprender y practicar.</a:t>
            </a:r>
            <a:endParaRPr lang="es-E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-11:45-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377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Para terminar, estas son las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mejoras que propongo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de cara al futuro: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Notificaciones </a:t>
            </a:r>
            <a:r>
              <a:rPr lang="es-ES" b="1" i="0" dirty="0" err="1">
                <a:solidFill>
                  <a:srgbClr val="F9FAFB"/>
                </a:solidFill>
                <a:effectLst/>
                <a:latin typeface="quote-cjk-patch"/>
              </a:rPr>
              <a:t>push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para comunicación sin depender de llamadas o SMS.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Completar y ampliar la traducción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a más idiomas.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Mantenimiento predictivo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basado en kilómetros recorridos, para programar revisiones de vehículos.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Reglas de seguridad más estrictas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en </a:t>
            </a:r>
            <a:r>
              <a:rPr lang="es-ES" b="0" i="0" dirty="0" err="1">
                <a:solidFill>
                  <a:srgbClr val="F9FAFB"/>
                </a:solidFill>
                <a:effectLst/>
                <a:latin typeface="quote-cjk-patch"/>
              </a:rPr>
              <a:t>Firebase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, adaptadas a un entorno de producción real como más control de los usuarios.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Desarrollar una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versión web complementaria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el administrador, de modo que pueda gestionar la flota también desde el ordenador.</a:t>
            </a:r>
          </a:p>
          <a:p>
            <a:pPr algn="l"/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Estas mejoras permitirían una aplicación más completa y profesional.</a:t>
            </a: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-12:15-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9580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Muchas gracias. Quedo a su disposición para preguntas.</a:t>
            </a:r>
            <a:endParaRPr lang="es-E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Pasamos a la </a:t>
            </a:r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demo funcional</a:t>
            </a:r>
            <a:r>
              <a:rPr lang="es-ES" b="0" i="0" dirty="0">
                <a:solidFill>
                  <a:srgbClr val="F9FAFB"/>
                </a:solidFill>
                <a:effectLst/>
                <a:latin typeface="quote-cjk-patch"/>
              </a:rPr>
              <a:t> para que puedan ver la aplicación en marcha.</a:t>
            </a:r>
            <a:endParaRPr lang="es-E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es-ES" b="1" i="0" dirty="0">
                <a:solidFill>
                  <a:srgbClr val="F9FAFB"/>
                </a:solidFill>
                <a:effectLst/>
                <a:latin typeface="quote-cjk-patch"/>
              </a:rPr>
              <a:t>-12:30-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3AFBE-4A77-45F8-8F83-FF54F05D8EF8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1087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4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4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1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5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4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9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25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4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07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744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86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10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0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DRIVERCONTROL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Gestión de pequeñas flotas de transporte</a:t>
            </a:r>
          </a:p>
          <a:p>
            <a:r>
              <a:rPr lang="es-ES" dirty="0">
                <a:solidFill>
                  <a:schemeClr val="tx1"/>
                </a:solidFill>
              </a:rPr>
              <a:t>Saúl Santos Mesones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DAM Virtual 2025/2026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3194E0-3889-49D6-839C-48C3FA690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54" y="3488214"/>
            <a:ext cx="1407459" cy="2878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490448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EL PROBLEMA Y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sz="1800" dirty="0">
                <a:solidFill>
                  <a:schemeClr val="tx1"/>
                </a:solidFill>
              </a:rPr>
              <a:t>Gestión manual: llamadas, WhatsApp y papel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Errores, pérdida de información y retrasos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Aplicación</a:t>
            </a:r>
            <a:r>
              <a:rPr dirty="0">
                <a:solidFill>
                  <a:schemeClr val="tx1"/>
                </a:solidFill>
              </a:rPr>
              <a:t> Android para </a:t>
            </a:r>
            <a:r>
              <a:rPr lang="es-ES" dirty="0">
                <a:solidFill>
                  <a:schemeClr val="tx1"/>
                </a:solidFill>
              </a:rPr>
              <a:t>facilitar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la gestión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Perfiles diferenciados (</a:t>
            </a:r>
            <a:r>
              <a:rPr lang="es-ES" dirty="0" err="1">
                <a:solidFill>
                  <a:schemeClr val="tx1"/>
                </a:solidFill>
              </a:rPr>
              <a:t>admin</a:t>
            </a:r>
            <a:r>
              <a:rPr lang="es-ES" dirty="0">
                <a:solidFill>
                  <a:schemeClr val="tx1"/>
                </a:solidFill>
              </a:rPr>
              <a:t> [master] + conductor)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Datos centralizados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Ubicaciones actualizadas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Informes de actividad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TECNOLOGÍAS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Android Studio + Java</a:t>
            </a:r>
          </a:p>
          <a:p>
            <a:r>
              <a:rPr lang="es-ES" dirty="0" err="1">
                <a:solidFill>
                  <a:schemeClr val="tx1"/>
                </a:solidFill>
              </a:rPr>
              <a:t>Firebase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Firestore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OpenStreetMap (</a:t>
            </a:r>
            <a:r>
              <a:rPr dirty="0" err="1">
                <a:solidFill>
                  <a:schemeClr val="tx1"/>
                </a:solidFill>
              </a:rPr>
              <a:t>OSMDroid</a:t>
            </a:r>
            <a:r>
              <a:rPr dirty="0">
                <a:solidFill>
                  <a:schemeClr val="tx1"/>
                </a:solidFill>
              </a:rPr>
              <a:t>)</a:t>
            </a:r>
          </a:p>
          <a:p>
            <a:r>
              <a:rPr dirty="0" err="1">
                <a:solidFill>
                  <a:schemeClr val="tx1"/>
                </a:solidFill>
              </a:rPr>
              <a:t>JavaMail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REQUISITOS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Login</a:t>
            </a:r>
            <a:r>
              <a:rPr lang="es-ES" dirty="0">
                <a:solidFill>
                  <a:schemeClr val="tx1"/>
                </a:solidFill>
              </a:rPr>
              <a:t> por rol</a:t>
            </a:r>
          </a:p>
          <a:p>
            <a:r>
              <a:rPr lang="es-ES" dirty="0">
                <a:solidFill>
                  <a:schemeClr val="tx1"/>
                </a:solidFill>
              </a:rPr>
              <a:t>CRUD de entidades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Mapa</a:t>
            </a:r>
            <a:r>
              <a:rPr dirty="0">
                <a:solidFill>
                  <a:schemeClr val="tx1"/>
                </a:solidFill>
              </a:rPr>
              <a:t> con </a:t>
            </a:r>
            <a:r>
              <a:rPr dirty="0" err="1">
                <a:solidFill>
                  <a:schemeClr val="tx1"/>
                </a:solidFill>
              </a:rPr>
              <a:t>ubicación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flota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avisos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Registro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tiempos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Informes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08377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REQUISITOS NO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Android 8 o superior</a:t>
            </a:r>
          </a:p>
          <a:p>
            <a:r>
              <a:rPr lang="es-ES" dirty="0">
                <a:solidFill>
                  <a:schemeClr val="tx1"/>
                </a:solidFill>
              </a:rPr>
              <a:t>Conexión a Internet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Ubicación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cada</a:t>
            </a:r>
            <a:r>
              <a:rPr dirty="0">
                <a:solidFill>
                  <a:schemeClr val="tx1"/>
                </a:solidFill>
              </a:rPr>
              <a:t> 5 </a:t>
            </a:r>
            <a:r>
              <a:rPr dirty="0" err="1">
                <a:solidFill>
                  <a:schemeClr val="tx1"/>
                </a:solidFill>
              </a:rPr>
              <a:t>minutos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Interfaz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sencilla e intuitiva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Datos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Firebase</a:t>
            </a:r>
          </a:p>
          <a:p>
            <a:r>
              <a:rPr dirty="0">
                <a:solidFill>
                  <a:schemeClr val="tx1"/>
                </a:solidFill>
              </a:rPr>
              <a:t>Java con Android Studio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SEGURIDAD Y PROTECCIÓN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Acceso restringido por rol</a:t>
            </a:r>
          </a:p>
          <a:p>
            <a:r>
              <a:rPr lang="es-ES" dirty="0">
                <a:solidFill>
                  <a:schemeClr val="tx1"/>
                </a:solidFill>
              </a:rPr>
              <a:t>Credenciales SMTP en </a:t>
            </a:r>
            <a:r>
              <a:rPr lang="es-ES" dirty="0" err="1">
                <a:solidFill>
                  <a:schemeClr val="tx1"/>
                </a:solidFill>
              </a:rPr>
              <a:t>Firebase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Compartir ubicación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Proyecto </a:t>
            </a:r>
            <a:r>
              <a:rPr dirty="0" err="1">
                <a:solidFill>
                  <a:schemeClr val="tx1"/>
                </a:solidFill>
              </a:rPr>
              <a:t>independiente</a:t>
            </a:r>
            <a:r>
              <a:rPr dirty="0">
                <a:solidFill>
                  <a:schemeClr val="tx1"/>
                </a:solidFill>
              </a:rPr>
              <a:t> por </a:t>
            </a:r>
            <a:r>
              <a:rPr dirty="0" err="1">
                <a:solidFill>
                  <a:schemeClr val="tx1"/>
                </a:solidFill>
              </a:rPr>
              <a:t>cliente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1DAA27-85D6-40C9-B486-9DE61233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3170195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08377" cy="1320800"/>
          </a:xfrm>
        </p:spPr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Viabilidad, planificación y costes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Planificación temporal</a:t>
            </a:r>
          </a:p>
          <a:p>
            <a:r>
              <a:rPr lang="es-ES" dirty="0">
                <a:solidFill>
                  <a:schemeClr val="tx1"/>
                </a:solidFill>
              </a:rPr>
              <a:t>Planificación económica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Estudio de mercado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Marco legal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Viabilidad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83E01B-E64D-4CA6-9917-F812EE9F1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25344"/>
            <a:ext cx="4304702" cy="46038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3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4C0BC61-77FF-4794-8D92-943E46D6B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99" y="549000"/>
            <a:ext cx="1414988" cy="288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CRUD DE ENTIDADES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Usuarios</a:t>
            </a:r>
          </a:p>
          <a:p>
            <a:r>
              <a:rPr lang="es-ES" dirty="0">
                <a:solidFill>
                  <a:schemeClr val="tx1"/>
                </a:solidFill>
              </a:rPr>
              <a:t>Vehículos</a:t>
            </a:r>
          </a:p>
          <a:p>
            <a:r>
              <a:rPr lang="es-ES" dirty="0">
                <a:solidFill>
                  <a:schemeClr val="tx1"/>
                </a:solidFill>
              </a:rPr>
              <a:t>Viaje</a:t>
            </a:r>
          </a:p>
          <a:p>
            <a:r>
              <a:rPr lang="es-ES" dirty="0">
                <a:solidFill>
                  <a:schemeClr val="tx1"/>
                </a:solidFill>
              </a:rPr>
              <a:t>Aviso</a:t>
            </a:r>
          </a:p>
          <a:p>
            <a:r>
              <a:rPr lang="es-ES" dirty="0">
                <a:solidFill>
                  <a:schemeClr val="tx1"/>
                </a:solidFill>
              </a:rPr>
              <a:t>Registro de conducción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2BFCFF-5EA3-4AFB-8172-7EAB6488F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958" y="3600784"/>
            <a:ext cx="1417343" cy="28776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BABDA7-0358-4034-9ED8-FEA17B390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698" y="3586449"/>
            <a:ext cx="1419107" cy="2877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GESTIÓN DE UBICACIÓ</a:t>
            </a:r>
            <a:r>
              <a:rPr lang="es-ES" b="1" dirty="0">
                <a:solidFill>
                  <a:srgbClr val="0070C0"/>
                </a:solidFill>
              </a:rPr>
              <a:t>N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Administrador visualiza toda la flota</a:t>
            </a:r>
          </a:p>
          <a:p>
            <a:r>
              <a:rPr lang="es-ES" dirty="0">
                <a:solidFill>
                  <a:schemeClr val="tx1"/>
                </a:solidFill>
              </a:rPr>
              <a:t>Conductor comparte ubicación opcionalmente</a:t>
            </a:r>
          </a:p>
          <a:p>
            <a:r>
              <a:rPr dirty="0" err="1">
                <a:solidFill>
                  <a:schemeClr val="tx1"/>
                </a:solidFill>
              </a:rPr>
              <a:t>Compañeros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cercanos</a:t>
            </a:r>
            <a:r>
              <a:rPr dirty="0">
                <a:solidFill>
                  <a:schemeClr val="tx1"/>
                </a:solidFill>
              </a:rPr>
              <a:t> (~25 km)</a:t>
            </a:r>
          </a:p>
          <a:p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cada</a:t>
            </a:r>
            <a:r>
              <a:rPr dirty="0">
                <a:solidFill>
                  <a:schemeClr val="tx1"/>
                </a:solidFill>
              </a:rPr>
              <a:t> 5 </a:t>
            </a:r>
            <a:r>
              <a:rPr dirty="0" err="1">
                <a:solidFill>
                  <a:schemeClr val="tx1"/>
                </a:solidFill>
              </a:rPr>
              <a:t>minutos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A47A97-5B24-41C0-BA0E-96576AB74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715" y="3616883"/>
            <a:ext cx="1421693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35B5FD-A19D-4354-A9BB-687E790B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312" y="549000"/>
            <a:ext cx="1402500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2DD09CD-0F74-48FB-B52F-2502BD976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94" y="3592283"/>
            <a:ext cx="1414987" cy="288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REGISTRO DE JORNADA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4993342" cy="3379598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Conducción</a:t>
            </a:r>
          </a:p>
          <a:p>
            <a:r>
              <a:rPr lang="es-ES" dirty="0">
                <a:solidFill>
                  <a:schemeClr val="tx1"/>
                </a:solidFill>
              </a:rPr>
              <a:t>Descanso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Disponibilidad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Otros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trabajos</a:t>
            </a:r>
            <a:endParaRPr lang="es-ES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Cálculo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límites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Registro pendiente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304DB3-301B-433D-BE7A-847E28B44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339" y="3616882"/>
            <a:ext cx="1421793" cy="2855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INFORMES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Manual: individual o global</a:t>
            </a:r>
          </a:p>
          <a:p>
            <a:r>
              <a:rPr lang="es-ES" dirty="0">
                <a:solidFill>
                  <a:schemeClr val="tx1"/>
                </a:solidFill>
              </a:rPr>
              <a:t>Envío por email (texto o </a:t>
            </a:r>
            <a:r>
              <a:rPr lang="es-ES" dirty="0" err="1">
                <a:solidFill>
                  <a:schemeClr val="tx1"/>
                </a:solidFill>
              </a:rPr>
              <a:t>pdf</a:t>
            </a:r>
            <a:r>
              <a:rPr lang="es-ES" dirty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Automático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semanal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Limpieza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automática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datos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A7D07B-3E14-4E3A-8BE5-3EE2AB145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671" y="3616882"/>
            <a:ext cx="1442642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ARQUITECTURA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Capa de presentación</a:t>
            </a:r>
          </a:p>
          <a:p>
            <a:r>
              <a:rPr lang="es-ES" dirty="0">
                <a:solidFill>
                  <a:schemeClr val="tx1"/>
                </a:solidFill>
              </a:rPr>
              <a:t>Capa lógica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Capa de persistencia</a:t>
            </a:r>
          </a:p>
          <a:p>
            <a:endParaRPr lang="es-ES"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Reutilización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actividades</a:t>
            </a:r>
            <a:endParaRPr lang="es-ES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 err="1">
                <a:solidFill>
                  <a:schemeClr val="tx1"/>
                </a:solidFill>
              </a:rPr>
              <a:t>TipoLista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>
                <a:solidFill>
                  <a:schemeClr val="tx1"/>
                </a:solidFill>
              </a:rPr>
              <a:t>define entidades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EC31DC-154B-4395-B430-C1221C98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02424"/>
            <a:ext cx="4161863" cy="277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PRUEBAS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CRUD de entidades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Contacto</a:t>
            </a:r>
            <a:endParaRPr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Pruebas funcionales</a:t>
            </a:r>
          </a:p>
          <a:p>
            <a:r>
              <a:rPr lang="es-ES" dirty="0">
                <a:solidFill>
                  <a:schemeClr val="tx1"/>
                </a:solidFill>
              </a:rPr>
              <a:t>Validación de datos</a:t>
            </a:r>
          </a:p>
          <a:p>
            <a:r>
              <a:rPr lang="es-ES" dirty="0">
                <a:solidFill>
                  <a:schemeClr val="tx1"/>
                </a:solidFill>
              </a:rPr>
              <a:t>Pruebas reales de uso</a:t>
            </a:r>
          </a:p>
          <a:p>
            <a:r>
              <a:rPr lang="es-ES" dirty="0">
                <a:solidFill>
                  <a:schemeClr val="tx1"/>
                </a:solidFill>
              </a:rPr>
              <a:t>Ubicación</a:t>
            </a:r>
          </a:p>
          <a:p>
            <a:r>
              <a:rPr lang="es-ES" dirty="0">
                <a:solidFill>
                  <a:schemeClr val="tx1"/>
                </a:solidFill>
              </a:rPr>
              <a:t>Informes</a:t>
            </a:r>
          </a:p>
          <a:p>
            <a:r>
              <a:rPr lang="es-ES" dirty="0">
                <a:solidFill>
                  <a:schemeClr val="tx1"/>
                </a:solidFill>
              </a:rPr>
              <a:t>Traducción</a:t>
            </a:r>
          </a:p>
          <a:p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27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PROBLEMAS ENCONTRADOS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0000"/>
            <a:ext cx="6347714" cy="388077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Arquitectura</a:t>
            </a:r>
          </a:p>
          <a:p>
            <a:r>
              <a:rPr lang="es-ES" dirty="0">
                <a:solidFill>
                  <a:schemeClr val="tx1"/>
                </a:solidFill>
              </a:rPr>
              <a:t>Ubicaciones</a:t>
            </a:r>
          </a:p>
          <a:p>
            <a:r>
              <a:rPr lang="es-ES" dirty="0">
                <a:solidFill>
                  <a:schemeClr val="tx1"/>
                </a:solidFill>
              </a:rPr>
              <a:t>Informes automáticos</a:t>
            </a:r>
          </a:p>
        </p:txBody>
      </p:sp>
    </p:spTree>
    <p:extLst>
      <p:ext uri="{BB962C8B-B14F-4D97-AF65-F5344CB8AC3E}">
        <p14:creationId xmlns:p14="http://schemas.microsoft.com/office/powerpoint/2010/main" val="47774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E997B6-859C-4833-8E06-C0495E90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CONCLUSIONES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F1C0C94-0A1C-46AD-96B1-5E29841E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Proyecto funcional y viable</a:t>
            </a:r>
          </a:p>
          <a:p>
            <a:r>
              <a:rPr lang="es-ES" dirty="0">
                <a:solidFill>
                  <a:schemeClr val="tx1"/>
                </a:solidFill>
              </a:rPr>
              <a:t>Arquitectura escalable y reutilizable</a:t>
            </a:r>
          </a:p>
          <a:p>
            <a:r>
              <a:rPr lang="es-ES" dirty="0">
                <a:solidFill>
                  <a:schemeClr val="tx1"/>
                </a:solidFill>
              </a:rPr>
              <a:t>Aplicación de práctica y aprendizaje</a:t>
            </a:r>
          </a:p>
          <a:p>
            <a:r>
              <a:rPr lang="es-ES" dirty="0">
                <a:solidFill>
                  <a:schemeClr val="tx1"/>
                </a:solidFill>
              </a:rPr>
              <a:t>Cumplimiento de requisitos</a:t>
            </a:r>
          </a:p>
        </p:txBody>
      </p:sp>
    </p:spTree>
    <p:extLst>
      <p:ext uri="{BB962C8B-B14F-4D97-AF65-F5344CB8AC3E}">
        <p14:creationId xmlns:p14="http://schemas.microsoft.com/office/powerpoint/2010/main" val="308832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PROPUESTAS DE MEJORA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80000"/>
            <a:ext cx="6347714" cy="388077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Notificaciones </a:t>
            </a:r>
            <a:r>
              <a:rPr lang="es-ES" dirty="0" err="1">
                <a:solidFill>
                  <a:schemeClr val="tx1"/>
                </a:solidFill>
              </a:rPr>
              <a:t>push</a:t>
            </a: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Más idiomas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Mantenimiento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predictivo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Reglas</a:t>
            </a:r>
            <a:r>
              <a:rPr dirty="0">
                <a:solidFill>
                  <a:schemeClr val="tx1"/>
                </a:solidFill>
              </a:rPr>
              <a:t> Firebase </a:t>
            </a:r>
            <a:r>
              <a:rPr dirty="0" err="1">
                <a:solidFill>
                  <a:schemeClr val="tx1"/>
                </a:solidFill>
              </a:rPr>
              <a:t>más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estrictas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Versión</a:t>
            </a:r>
            <a:r>
              <a:rPr dirty="0">
                <a:solidFill>
                  <a:schemeClr val="tx1"/>
                </a:solidFill>
              </a:rPr>
              <a:t> web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58778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0070C0"/>
                </a:solidFill>
              </a:rPr>
              <a:t>	</a:t>
            </a:r>
            <a:r>
              <a:rPr lang="es-ES" sz="4000" b="1" dirty="0">
                <a:solidFill>
                  <a:srgbClr val="0070C0"/>
                </a:solidFill>
              </a:rPr>
              <a:t>GRACIAS</a:t>
            </a:r>
            <a:endParaRPr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1992</TotalTime>
  <Words>2158</Words>
  <Application>Microsoft Office PowerPoint</Application>
  <PresentationFormat>Presentación en pantalla (4:3)</PresentationFormat>
  <Paragraphs>225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Consolas</vt:lpstr>
      <vt:lpstr>quote-cjk-patch</vt:lpstr>
      <vt:lpstr>Verdana</vt:lpstr>
      <vt:lpstr>Wingdings</vt:lpstr>
      <vt:lpstr>Wingdings 3</vt:lpstr>
      <vt:lpstr>Faceta</vt:lpstr>
      <vt:lpstr>DRIVERCONTROL</vt:lpstr>
      <vt:lpstr>EL PROBLEMA Y LA SOLUCIÓN</vt:lpstr>
      <vt:lpstr>TECNOLOGÍAS UTILIZADAS</vt:lpstr>
      <vt:lpstr>REQUISITOS FUNCIONALES</vt:lpstr>
      <vt:lpstr>REQUISITOS NO FUNCIONALES</vt:lpstr>
      <vt:lpstr>SEGURIDAD Y PROTECCIÓN DE DATOS</vt:lpstr>
      <vt:lpstr>Viabilidad, planificación y costes</vt:lpstr>
      <vt:lpstr>CRUD DE ENTIDADES</vt:lpstr>
      <vt:lpstr>GESTIÓN DE UBICACIÓN</vt:lpstr>
      <vt:lpstr>REGISTRO DE JORNADA</vt:lpstr>
      <vt:lpstr>INFORMES</vt:lpstr>
      <vt:lpstr>ARQUITECTURA TÉCNICA</vt:lpstr>
      <vt:lpstr>PRUEBAS DEL SISTEMA</vt:lpstr>
      <vt:lpstr>PROBLEMAS ENCONTRADOS</vt:lpstr>
      <vt:lpstr>CONCLUSIONES</vt:lpstr>
      <vt:lpstr>PROPUESTAS DE MEJORA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DRIVERCONTROL</dc:title>
  <dc:subject/>
  <dc:creator>Saúl Santos Mesones</dc:creator>
  <cp:keywords/>
  <dc:description>generated using python-pptx</dc:description>
  <cp:lastModifiedBy>Saúl</cp:lastModifiedBy>
  <cp:revision>80</cp:revision>
  <dcterms:created xsi:type="dcterms:W3CDTF">2013-01-27T09:14:16Z</dcterms:created>
  <dcterms:modified xsi:type="dcterms:W3CDTF">2026-05-12T15:58:57Z</dcterms:modified>
  <cp:category/>
</cp:coreProperties>
</file>